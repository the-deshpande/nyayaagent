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76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50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77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27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66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47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04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80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29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92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23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3090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129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901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242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427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96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039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34640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Nyaya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8577" y="3063240"/>
            <a:ext cx="486684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9A227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Agentic </a:t>
            </a:r>
            <a:r>
              <a:rPr sz="2200" dirty="0">
                <a:solidFill>
                  <a:schemeClr val="accent2">
                    <a:lumMod val="75000"/>
                  </a:schemeClr>
                </a:solidFill>
              </a:rPr>
              <a:t>Legal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Research for Indian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Demo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777240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Legal research in India is manual, subscription-gated, and error-prone.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Compliance officers and advocates must navigate three structurally different data types in parallel.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Multi-source, multi-format research commonly takes 4–8 hours per matter.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Fragmented tools force teams to stitch together case law, circulars, and statutes by hand.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Nyaya Agent targets this bottleneck with a unified, AI-assisted research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Nyaya Agent?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777240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An agentic legal research system purpose-built for Indian law.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Three specialist AI agents collaborate on every grounded query.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Retrieval-augmented generation (RAG) over a unified legal corpus.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Chat-style interface for case-focused dialogue with structured memo output.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Delivers citations, risk ratings, and optional compliance-gap narratives.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7" y="2011680"/>
            <a:ext cx="4050793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Python — core language for the full project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LangGraph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— multi-agent routing &amp; state graph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LangChain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— LLM integration, tools,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ReAct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loops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OpenRouter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(Gemma) — chat model for all agents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Jupyter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Notebook — RAG corpus build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033540"/>
            <a:ext cx="4279392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ChromaDB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— vector store for legal retrieval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InLegalBERT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— legal-domain text embeddings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SQLite — session memory (messages + summary)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Streamlit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— web UI &amp; hosting (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Streamlit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Cloud)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Indian Kanoon API — case law data ingestion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RAGAS,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spaCy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, xhtml2pdf — eval, NLP &amp; PDF export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FEC68-012F-0667-DD30-8C3682600B2B}"/>
              </a:ext>
            </a:extLst>
          </p:cNvPr>
          <p:cNvSpPr txBox="1"/>
          <p:nvPr/>
        </p:nvSpPr>
        <p:spPr>
          <a:xfrm>
            <a:off x="423653" y="160020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AI &amp; Orchestration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EC48EE-F83E-3996-6B08-5EA30B83B206}"/>
              </a:ext>
            </a:extLst>
          </p:cNvPr>
          <p:cNvSpPr txBox="1"/>
          <p:nvPr/>
        </p:nvSpPr>
        <p:spPr>
          <a:xfrm>
            <a:off x="4709160" y="1600200"/>
            <a:ext cx="269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Data, UI &amp; Infrastructure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Building the 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43584"/>
            <a:ext cx="31071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45566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How the legal corpus is created and queried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77724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Retrieval-Augmented Generation grounds every answer in real Indian legal text.</a:t>
            </a:r>
          </a:p>
          <a:p>
            <a:pPr>
              <a:spcAft>
                <a:spcPts val="1000"/>
              </a:spcAft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The pipeline has f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our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stages — from raw documents to grounded answers:</a:t>
            </a:r>
          </a:p>
          <a:p>
            <a:pPr>
              <a:spcAft>
                <a:spcPts val="1000"/>
              </a:spcAft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  1. Fetch — pull judgments from Indian Kanoon</a:t>
            </a:r>
          </a:p>
          <a:p>
            <a:pPr>
              <a:spcAft>
                <a:spcPts val="1000"/>
              </a:spcAft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  2. Preprocess &amp; chunk — clean and split into searchable passages</a:t>
            </a:r>
          </a:p>
          <a:p>
            <a:pPr>
              <a:spcAft>
                <a:spcPts val="1000"/>
              </a:spcAft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  3. Embed — convert each chunk into a numerical vector</a:t>
            </a:r>
          </a:p>
          <a:p>
            <a:pPr>
              <a:spcAft>
                <a:spcPts val="1000"/>
              </a:spcAft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  4. Index — store vectors and metadata in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ChromaDB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spcAft>
                <a:spcPts val="1000"/>
              </a:spcAft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This notebook-driven workflow feeds the Nyaya Agent RAG mode.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RAG Step 1 — Fetching Legal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7772400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Source: Indian Kanoon REST API (case law judgments).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Topic-based search queries cover domains like insider trading, employment, family law, and more.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Search returns document stubs; each full judgment is fetched individually.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Raw JSON responses are cached locally to avoid repeat API calls.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Demo corpus: 600+ judgments fetched across six legal topic areas.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Future phases extend the same pattern to SEBI/RBI circulars and Gazette PDFs.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RAG Step 2 — Preprocessing &amp;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7772400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HTML judgments are parsed and stripped of navigation, scripts, and site boilerplate.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Text is normalized — whitespace,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unicode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, and citation formats (SCC, AIR) are cleaned.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Short or non-English documents are filtered out to keep corpus quality high.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Documents are split on legal section headings: Facts, Ratio, Judgment, Order, etc.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Sentence-aware chunking (~400 tokens per chunk, ~64-token overlap) preserves context.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Result: ~88,000 searchable chunks, each tagged with court, year, and section label.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RAG Step 3 — Generating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7772400" cy="3226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Each text chunk is converted into a 768-dimensional vector (embedding).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Model: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InLegalBERT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— a legal-domain encoder tuned for Indian law text.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Vectors are L2-normalized so cosine similarity measures semantic closeness.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Batch processing on GPU accelerates encoding of large corpora.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Embeddings capture meaning — similar legal concepts cluster in vector space.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Same model embeds user questions at query time for apples-to-apples retrieval.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RAG Step 4 — Indexing in ChromaDB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7772400" cy="3226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ChromaDB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is the persistent vector store — all chunks live in one unified collection.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Each record stores: chunk text, embedding vector, and rich metadata.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Metadata includes document title, court, year, section type, and language.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HNSW index with cosine distance enables fast approximate nearest-neighbor search.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Upserted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in batches (~500 at a time) for reliable large-scale ingestion.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Stored on local disk — survives restarts and powers the live Nyaya Agent app.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Three Specialist Agents?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691640"/>
            <a:ext cx="4315968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One agent risks tool confusion; five agents add orchestration overhead.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Three specialists balance retrieval depth, compliance analysis, and coherent output.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Each agent has a focused role and dedicated tool set.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Agents share context and hand off work in a fixed pipeline.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Bounded reasoning loops prevent runaway cost and latency.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B39FC6-0367-D3CD-447A-53DCBF90F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1" y="1132176"/>
            <a:ext cx="2459162" cy="56252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Agent 1 —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777240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Primary responsibility: find authoritative legal material across the corpus.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Searches case law, statutes, and regulatory circulars in one pass.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Uses iterative reasoning to refine queries and gather relevant chunks.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Returns retrieved passages with source metadata (title, citation, URL).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Feeds grounded evidence to downstream compliance and synthesis steps.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Agent 2 —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777240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Analyzes retrieved material against facts or obligations in the user’s matter.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Identifies clause-level compliance gaps and regulatory obligations.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Compares regulatory chunks to session context (e.g., contract or KYC facts).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Produces structured compliance artifacts for the final memo.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Designed to scale toward full clause engines and remediation drafts.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Agent 3 —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777240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Assembles research and compliance findings into a structured legal memo.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Output includes executive summary, detailed report, and citation list.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Assigns risk ratings and highlights key legal takeaways.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Generates a concise chat reply alongside the full memo.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Supports export to PDF for sharing with stakeholders.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End-to-End Query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777240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1. User submits a natural-language question in the chat interface.</a:t>
            </a:r>
          </a:p>
          <a:p>
            <a:pPr>
              <a:spcAft>
                <a:spcPts val="1000"/>
              </a:spcAft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2. System routes the query to the appropriate processing path.</a:t>
            </a:r>
          </a:p>
          <a:p>
            <a:pPr>
              <a:spcAft>
                <a:spcPts val="1000"/>
              </a:spcAft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3. Research agent retrieves and ranks relevant legal chunks.</a:t>
            </a:r>
          </a:p>
          <a:p>
            <a:pPr>
              <a:spcAft>
                <a:spcPts val="1000"/>
              </a:spcAft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4. Compliance agent evaluates obligations and gaps.</a:t>
            </a:r>
          </a:p>
          <a:p>
            <a:pPr>
              <a:spcAft>
                <a:spcPts val="1000"/>
              </a:spcAft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5. Synthesis agent produces the structured memo and chat response.</a:t>
            </a:r>
          </a:p>
          <a:p>
            <a:pPr>
              <a:spcAft>
                <a:spcPts val="1000"/>
              </a:spcAft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6. Session memory preserves context for follow-up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Two Operating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30540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A4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RAG Mode (Corpus Grounded)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3840480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ChromaDB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corpus built via the five-step RAG pipeline.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Full three-agent pipeline runs on every query.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Answers cite retrieved Indian Kanoon judgments.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Structured JSON memo with expander in UI.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Best for authoritative, citation-backed research.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600200"/>
            <a:ext cx="267951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A4A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Plain Chat Mode (Fallback)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011680"/>
            <a:ext cx="384048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Corpus not yet loaded or disabled.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Single conversational model responds.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Uses session memory only — no vector retrieval.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UI clearly indicates non-grounded answers.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Useful for demos, setup, and general Q&amp;A.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Session Memory &amp; Chat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777240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Streamlit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web UI — primary interface for case-focused dialogue.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SQLite stores conversation history per session.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Rolling window of recent messages keeps context fresh.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Older turns are compressed into a running summary.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Users can continue multi-turn discussions without losing thread.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Optional CLI path for quick terminal-based smoke tests.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Quality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777240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RAG systems are only as good as what they retrieve — quality must be measured, not assumed.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Nyaya Agent uses RAGAS, an industry-standard framework for RAG assessment.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Retrieval is scored against fixed legal benchmark questions with known reference answers.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Results surface as a simple star rating in the app sidebar.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See next slide for how RAGAS works and why it was added.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RAGAS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2284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45566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Retrieval Augmented Generation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7772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What it does: objectively scores whether the vector store returns the right legal passages for a given question.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Why it was added: in legal research, poor retrieval leads to unsupported or hallucinated answers — this catches that early.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Metrics used: Context Precision (are retrieved chunks on-topic?) and Context Recall (did we find the relevant material?).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How it runs: benchmark questions on insider trading, rental law, and marriage acts → retrieve from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ChromaDB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→ score vs. references.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Stability: three evaluation rounds per question; best score is kept to reduce random variance.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Output: combined F1 score converted to a RAG Quality rating out of 5 (★ display in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Streamlit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sidebar).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445566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When to use: after corpus ingestion, before demos, or whenever the index is updated — one-click “Evaluate RAG Pipeline” button.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54680"/>
            <a:ext cx="91440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9A227"/>
                </a:solidFill>
              </a:defRPr>
            </a:pPr>
            <a:r>
              <a:t>Questions &amp;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Nyaya Agent — Intelligent Legal Research for India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70</TotalTime>
  <Words>1395</Words>
  <Application>Microsoft Office PowerPoint</Application>
  <PresentationFormat>On-screen Show (4:3)</PresentationFormat>
  <Paragraphs>135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Kaiwalya Deshpande</cp:lastModifiedBy>
  <cp:revision>4</cp:revision>
  <dcterms:created xsi:type="dcterms:W3CDTF">2013-01-27T09:14:16Z</dcterms:created>
  <dcterms:modified xsi:type="dcterms:W3CDTF">2026-06-26T13:03:50Z</dcterms:modified>
  <cp:category/>
</cp:coreProperties>
</file>